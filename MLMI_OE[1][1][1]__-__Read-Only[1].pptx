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842" r:id="rId4"/>
    <p:sldId id="262" r:id="rId5"/>
    <p:sldId id="860" r:id="rId6"/>
    <p:sldId id="863" r:id="rId7"/>
    <p:sldId id="843" r:id="rId8"/>
    <p:sldId id="864" r:id="rId9"/>
    <p:sldId id="845" r:id="rId10"/>
    <p:sldId id="861" r:id="rId11"/>
    <p:sldId id="847" r:id="rId12"/>
    <p:sldId id="865" r:id="rId13"/>
    <p:sldId id="870" r:id="rId14"/>
    <p:sldId id="868" r:id="rId15"/>
    <p:sldId id="866" r:id="rId16"/>
    <p:sldId id="851" r:id="rId17"/>
    <p:sldId id="869" r:id="rId18"/>
    <p:sldId id="85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4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450"/>
    <a:srgbClr val="942093"/>
    <a:srgbClr val="005493"/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5C5B06-8379-439A-8C5A-5F5E68B599BE}" v="2" dt="2025-11-18T05:25:14.6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2061"/>
  </p:normalViewPr>
  <p:slideViewPr>
    <p:cSldViewPr snapToGrid="0" showGuides="1">
      <p:cViewPr varScale="1">
        <p:scale>
          <a:sx n="64" d="100"/>
          <a:sy n="64" d="100"/>
        </p:scale>
        <p:origin x="1406" y="38"/>
      </p:cViewPr>
      <p:guideLst>
        <p:guide orient="horz" pos="2228"/>
        <p:guide pos="34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raju Yellanki" userId="2e055d3647ebb8e3" providerId="LiveId" clId="{1D682DEE-8A3A-4BF2-A185-742EB057D85B}"/>
    <pc:docChg chg="modSld">
      <pc:chgData name="Nagaraju Yellanki" userId="2e055d3647ebb8e3" providerId="LiveId" clId="{1D682DEE-8A3A-4BF2-A185-742EB057D85B}" dt="2025-11-18T05:25:14.696" v="1" actId="1036"/>
      <pc:docMkLst>
        <pc:docMk/>
      </pc:docMkLst>
      <pc:sldChg chg="modSp">
        <pc:chgData name="Nagaraju Yellanki" userId="2e055d3647ebb8e3" providerId="LiveId" clId="{1D682DEE-8A3A-4BF2-A185-742EB057D85B}" dt="2025-11-18T05:25:14.696" v="1" actId="1036"/>
        <pc:sldMkLst>
          <pc:docMk/>
          <pc:sldMk cId="3319094724" sldId="870"/>
        </pc:sldMkLst>
        <pc:picChg chg="mod">
          <ac:chgData name="Nagaraju Yellanki" userId="2e055d3647ebb8e3" providerId="LiveId" clId="{1D682DEE-8A3A-4BF2-A185-742EB057D85B}" dt="2025-11-18T05:25:14.696" v="1" actId="1036"/>
          <ac:picMkLst>
            <pc:docMk/>
            <pc:sldMk cId="3319094724" sldId="870"/>
            <ac:picMk id="2" creationId="{75BEA9A3-4337-E46E-FA23-96269A7738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F4DF4-0195-D44C-96C4-BD862AF360A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98406-194B-D342-8609-3215B06A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6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38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88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56994-5A95-4E39-A2E5-5D2EEF53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3A6BD-2C2C-8670-2CEC-19EED28FA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A3DE8-8479-E9C8-B666-2F129A0D3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3DE85-1EE3-51FC-3BC0-E84511088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46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24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C1A0-2390-C3AC-B2BE-12551B9A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F6AC7-CFC3-1CDC-59C4-AC09CC995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8E576-AFB9-DBBC-F536-D4308E463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83000-1772-6499-F56B-B1C708B31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94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D82E-DFFF-9300-52E1-49E74D94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C2ED0-5D85-20C1-65E2-4065A7985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30727-71AC-AA90-1748-2DE6BAEFA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14CA1-1F04-5CAB-E5C4-EFF43F9C0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87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A4DE-CC4A-E240-7335-90505A9F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61D59-510D-1448-7D44-7A8B23DE1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ED4CD-219F-2781-B1BF-21CD1C4FD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BF341-F470-04C9-0F96-2BC985588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50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FD878-9614-BCF0-0181-29035B28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CC109-B6D5-7EDB-05AC-D06D9869A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D730D-2940-724F-9135-3523B0A97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43DC0-A3C5-7517-C4A2-8755243DD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31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90332-2D63-3488-D79D-C6246959D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D8725-18DD-F67F-AB86-2445DB565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669B9-6C27-61E3-CE79-4738B9DE8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0C4B2-F6A1-07E1-541E-74607F093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95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A61B-275D-6B3B-E554-A24E9A4A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F8699-A1A7-C3C4-5DC7-2ACEB6029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19DD7-DA88-2E59-AC11-27D602879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32FF1-F055-2439-6886-E4A5AD867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11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75673-6334-69BD-26E3-70959651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6A432-D423-F7D0-CEA2-EE82BC09B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71D20-E07F-25F2-00EF-912853C7E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989BC-63D1-607D-10BE-35E4EFC0A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61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F15D-89DE-C905-72E9-F43ED2B3D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4A279-A549-07E6-F85B-CB258E5E6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D9AC3-2E85-C093-8FDE-0E11D9CFD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81024-692F-8512-D992-956859B7E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79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27135-43EF-4172-4F46-FA945FBE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10AF5-1263-EA42-4123-F137161BE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7D0C1-F17F-DE08-BD17-6B1C5C805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B229A-CF32-A86F-D89F-3A31FED22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82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D553-A08D-239C-F6CF-779FF0223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6A0F1-6DA9-8550-3FB5-E990A1AFE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E96A0-C393-8740-E5CB-D7219FF15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90BE-3770-7749-B933-E635DFD518FC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F4898-A4E5-9CA3-D3CF-04E5C6C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00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B0789-2CD7-9769-A32C-986455FF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72D54-86CF-520B-384D-ADB5A90EF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D0C61-2A02-B5E0-383A-F7119560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6809D-0EEB-1749-A0D6-8C7CA51030DC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713BC-2392-0C2B-E693-1EF23E95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14B667-1CB1-E388-C633-AE6E468989D8}"/>
              </a:ext>
            </a:extLst>
          </p:cNvPr>
          <p:cNvSpPr/>
          <p:nvPr userDrawn="1"/>
        </p:nvSpPr>
        <p:spPr>
          <a:xfrm>
            <a:off x="11710866" y="6388100"/>
            <a:ext cx="422030" cy="417634"/>
          </a:xfrm>
          <a:prstGeom prst="ellipse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9A444D6-8A72-1B8B-CFC8-9288311D2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4000" y="6407150"/>
            <a:ext cx="480646" cy="365125"/>
          </a:xfrm>
        </p:spPr>
        <p:txBody>
          <a:bodyPr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fld id="{424766C8-FE37-C242-AED9-A550D3C7D8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595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F33F-C533-9886-E1BD-710A07A74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3A1C4-6EAE-835D-E5F8-B5CA2111C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5EDC8-D060-3E1B-2E27-57C3A26B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1A18-DB2E-4340-A8A3-F43A40F63AFA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AC885-DBC8-E5E1-0BAE-607FC15A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A8C5F-E7D0-B419-B0EE-12FE768D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7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FF21E1F-A378-5F33-3454-0E9CD00CA721}"/>
              </a:ext>
            </a:extLst>
          </p:cNvPr>
          <p:cNvSpPr/>
          <p:nvPr userDrawn="1"/>
        </p:nvSpPr>
        <p:spPr>
          <a:xfrm>
            <a:off x="11668123" y="6405562"/>
            <a:ext cx="371475" cy="365125"/>
          </a:xfrm>
          <a:prstGeom prst="ellipse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2424E-1E11-BCBD-C4A0-D303635B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C2A4-7C0E-8F94-78CD-FAB6F5919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45461-BDD8-7036-FC1D-D409C5BCF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1D378-1C41-5F1C-C630-652A4033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A4AD-5BD9-1A41-9BCD-06FEC1A78D4A}" type="datetime1">
              <a:rPr lang="en-IN" smtClean="0"/>
              <a:t>18-11-2025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A0D63-D147-ABCC-456F-697CDB00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C0700-B49E-E041-6A6B-B9B11311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724" y="6405562"/>
            <a:ext cx="676275" cy="365125"/>
          </a:xfrm>
        </p:spPr>
        <p:txBody>
          <a:bodyPr/>
          <a:lstStyle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fld id="{424766C8-FE37-C242-AED9-A550D3C7D8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5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6509-6727-E68E-38DD-6332D4E56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111EC-4AEF-95BF-6091-5D794B38D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D9CF0-A20C-CD00-8419-7D70147FD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4BC47B-63E3-F845-87F8-B8DC95368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F0CFC-F846-DB90-AA4F-CA700282A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C1C30-458A-930E-9F55-CF1768BE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A687-F0E8-4848-A600-D891EA72462B}" type="datetime1">
              <a:rPr lang="en-IN" smtClean="0"/>
              <a:t>18-11-2025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ADA5D-7AF2-9C43-051D-123D2599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E505F-927D-7539-9EB3-0078700E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16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05E4C-72BB-FAEA-C974-DC89E481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7D945-5F81-F8CE-0CD0-721973A8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0A0F-1063-9547-BEEB-6D9DEF241FA2}" type="datetime1">
              <a:rPr lang="en-IN" smtClean="0"/>
              <a:t>18-11-2025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96052-57B9-08F2-4BFD-EF0FDC26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2A455-2F7E-F59B-46E3-0DDEF3F5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C799E8-7CAD-F5CC-AF2F-151A6BF8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9126-2844-2B4D-8BE8-C2D3B87CE1FF}" type="datetime1">
              <a:rPr lang="en-IN" smtClean="0"/>
              <a:t>18-11-2025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FEDD1-1B56-A48C-4F45-17BB06DB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911CD-C636-AFAD-9D8B-15169F66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78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8452-3A6D-CFA4-323D-2DD77500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AEBE-0E75-EC2D-6E2C-720009140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B4E37-ADD6-94BE-AD3A-E2410D82E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C3B83-DADD-6C6E-8F9F-1B8365F7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E208-90B2-D44B-9C9F-BD7B1BE91AA7}" type="datetime1">
              <a:rPr lang="en-IN" smtClean="0"/>
              <a:t>18-11-2025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24BFF-D791-4A59-1259-7031CC94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2F6E9-E9CE-F0CD-7B29-4E3269FC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6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1842-C215-EC97-13ED-FC4BC0958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8ECAD-DFB8-9A1F-6DE6-28C8FDC6E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8ABEA-784D-951F-C96F-E451727D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A32C6-F1F0-C646-A0FD-6DA1593D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12664-DB3F-9245-BAB2-8275C04C3794}" type="datetime1">
              <a:rPr lang="en-IN" smtClean="0"/>
              <a:t>18-11-2025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21F0C-971B-4C80-2DDF-7679C1E5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2681A-DF64-991B-1339-EB5E5E95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7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5A68-159A-7EF8-AB75-14B86C12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FF023-FCC7-B816-65B7-6F1AF23D9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EFD8E-AC60-0DF4-4AFF-0A4170C3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01BA3-39C9-E645-97E5-D8540B7264E3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49F4C-E476-6201-700A-44BF43FDA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87BFE-3D14-AB25-890D-76E2124D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8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02DF85-52CA-C7CE-4D7F-F81A61DCD1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B2EE2-CE7D-616D-CD28-2FCC0F746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F4FFC-818A-56BF-C455-137ADF16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B4B17-415B-274D-A45B-51F223E841D3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6BB38-12AF-1F1B-1928-2BC5BEFD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E0DB3-42FD-59C9-17B7-0B4BA9FF2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20AB89-CF52-7ED0-18E6-D0D131CC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FA2B1-77F5-1580-BD33-857BFBC6E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BB710-EA2A-8F49-F5E7-9BB839C36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D9E38-8790-1C40-85CE-B1CAF3FEEF50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26B4D-FE1F-C714-0E2A-D0F57FBAC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176D3-6DA4-72A1-64FD-1F8A4EEA0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2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AAC755-3D7B-5342-3168-17D7CE206E44}"/>
              </a:ext>
            </a:extLst>
          </p:cNvPr>
          <p:cNvSpPr/>
          <p:nvPr/>
        </p:nvSpPr>
        <p:spPr>
          <a:xfrm>
            <a:off x="0" y="-1"/>
            <a:ext cx="12192000" cy="1845303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4000" dirty="0"/>
              <a:t>Title: Machine Learning for Ti: To predict its thermal expansion coefficient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nitw brand logo">
            <a:extLst>
              <a:ext uri="{FF2B5EF4-FFF2-40B4-BE49-F238E27FC236}">
                <a16:creationId xmlns:a16="http://schemas.microsoft.com/office/drawing/2014/main" id="{CEC36317-27FE-3C2B-E5C7-0C35D0FF3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275" y="4799652"/>
            <a:ext cx="6677025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74C51F-BFA1-715A-4951-D4A3A1539224}"/>
              </a:ext>
            </a:extLst>
          </p:cNvPr>
          <p:cNvSpPr txBox="1"/>
          <p:nvPr/>
        </p:nvSpPr>
        <p:spPr>
          <a:xfrm>
            <a:off x="3246112" y="2326505"/>
            <a:ext cx="53340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/>
              <a:t>Yellanki Nagaraju(22EEB0A06)</a:t>
            </a:r>
          </a:p>
          <a:p>
            <a:pPr algn="ctr"/>
            <a:r>
              <a:rPr lang="en-IN" sz="2400" b="1" dirty="0"/>
              <a:t>Somu </a:t>
            </a:r>
            <a:r>
              <a:rPr lang="en-IN" sz="2400" b="1" dirty="0" err="1"/>
              <a:t>kavyasri</a:t>
            </a:r>
            <a:r>
              <a:rPr lang="en-IN" sz="2400" b="1" dirty="0"/>
              <a:t> (22BTB0A34)</a:t>
            </a:r>
          </a:p>
          <a:p>
            <a:pPr algn="ctr"/>
            <a:r>
              <a:rPr lang="en-IN" sz="2400" b="1" dirty="0"/>
              <a:t>Department  of Mechanical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B7370F-E6EC-A570-22A9-1F85DF285DE8}"/>
              </a:ext>
            </a:extLst>
          </p:cNvPr>
          <p:cNvSpPr txBox="1"/>
          <p:nvPr/>
        </p:nvSpPr>
        <p:spPr>
          <a:xfrm>
            <a:off x="1983898" y="5983141"/>
            <a:ext cx="7858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691450"/>
                </a:solidFill>
              </a:rPr>
              <a:t>Machine Learning for materials informatics  (MLMI)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3697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16DDD402-59C9-A163-52AC-E0E33896BDC2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2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D26106-E703-E0E5-B77D-4BACD4ECD0A5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8">
            <a:extLst>
              <a:ext uri="{FF2B5EF4-FFF2-40B4-BE49-F238E27FC236}">
                <a16:creationId xmlns:a16="http://schemas.microsoft.com/office/drawing/2014/main" id="{CECF94C6-4AF3-2D23-26BC-CFAF2C26FD1A}"/>
              </a:ext>
            </a:extLst>
          </p:cNvPr>
          <p:cNvSpPr/>
          <p:nvPr/>
        </p:nvSpPr>
        <p:spPr>
          <a:xfrm>
            <a:off x="126640" y="164819"/>
            <a:ext cx="7046766" cy="923330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Titanium (Ti)</a:t>
            </a:r>
            <a:endParaRPr lang="en-US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60DAC-EED4-ED5D-B161-8FC19CEA4D94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260356-DA16-08AF-2067-4387386D9DC0}"/>
              </a:ext>
            </a:extLst>
          </p:cNvPr>
          <p:cNvSpPr txBox="1"/>
          <p:nvPr/>
        </p:nvSpPr>
        <p:spPr>
          <a:xfrm>
            <a:off x="221234" y="915420"/>
            <a:ext cx="2501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Basic Information: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5DA95E-460E-4D64-BB65-6D1DD77BF558}"/>
              </a:ext>
            </a:extLst>
          </p:cNvPr>
          <p:cNvSpPr txBox="1"/>
          <p:nvPr/>
        </p:nvSpPr>
        <p:spPr>
          <a:xfrm>
            <a:off x="221234" y="1461200"/>
            <a:ext cx="86500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Symbol: Ti  Atomic Number: 22  Crystal Structure: Hexagonal Close-Packed (HCP,</a:t>
            </a:r>
            <a:r>
              <a:rPr lang="el-GR" sz="2000" dirty="0"/>
              <a:t> α-</a:t>
            </a:r>
            <a:r>
              <a:rPr lang="en-IN" sz="2000" dirty="0"/>
              <a:t>phase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Lightweight and Strong Metal: High strength-to-weight ratio, density </a:t>
            </a:r>
            <a:r>
              <a:rPr lang="en-IN" sz="2000" dirty="0"/>
              <a:t>≈ 4.5 g/cm³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Abundant element, found mainly in minerals like ilmenite (</a:t>
            </a:r>
            <a:r>
              <a:rPr lang="en-IN" sz="2000" dirty="0" err="1"/>
              <a:t>FeTiO</a:t>
            </a:r>
            <a:r>
              <a:rPr lang="en-IN" sz="2000" dirty="0"/>
              <a:t>₃) and rutile (</a:t>
            </a:r>
            <a:r>
              <a:rPr lang="en-IN" sz="2000" dirty="0" err="1"/>
              <a:t>TiO</a:t>
            </a:r>
            <a:r>
              <a:rPr lang="en-IN" sz="2000" dirty="0"/>
              <a:t>₂).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D6B3E1-250E-4AA2-A970-6E34C2EDCE2A}"/>
              </a:ext>
            </a:extLst>
          </p:cNvPr>
          <p:cNvSpPr txBox="1"/>
          <p:nvPr/>
        </p:nvSpPr>
        <p:spPr>
          <a:xfrm>
            <a:off x="221234" y="3707910"/>
            <a:ext cx="885970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Physical and Mechanical Properties:</a:t>
            </a:r>
          </a:p>
          <a:p>
            <a:endParaRPr 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High tensile strength and low density (about 60% the weight of steel).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Outstanding corrosion resistance (especially in seawater and chlorine environments).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Good biocompatibility, suitable for medical implants.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Excellent performance at high temperatures (used up to 600°C).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374BFE-1CA8-BECE-C35B-F3F7DE5E4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603" y="2993675"/>
            <a:ext cx="4048857" cy="316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9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42BD6-666B-5C58-B35D-F500EE09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457B641-2B2C-8D94-4837-0464826F1D5A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3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E63A825-95C6-9CFE-7D1B-E5B2553DF44F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8">
            <a:extLst>
              <a:ext uri="{FF2B5EF4-FFF2-40B4-BE49-F238E27FC236}">
                <a16:creationId xmlns:a16="http://schemas.microsoft.com/office/drawing/2014/main" id="{8577DA5F-5AA4-6BD2-1370-C34EB4CDEA1A}"/>
              </a:ext>
            </a:extLst>
          </p:cNvPr>
          <p:cNvSpPr/>
          <p:nvPr/>
        </p:nvSpPr>
        <p:spPr>
          <a:xfrm>
            <a:off x="126640" y="164819"/>
            <a:ext cx="7046766" cy="923330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Titanium (Ti)</a:t>
            </a:r>
            <a:endParaRPr lang="en-US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8C790500-2EA7-4B09-59F9-3ED5F4188446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BA0D9F-927D-B245-F899-511B770B4429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1D5EC1-5F78-134C-1410-1160A4D6ADC1}"/>
              </a:ext>
            </a:extLst>
          </p:cNvPr>
          <p:cNvSpPr txBox="1"/>
          <p:nvPr/>
        </p:nvSpPr>
        <p:spPr>
          <a:xfrm>
            <a:off x="42041" y="982027"/>
            <a:ext cx="754591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Automotive and Aerospace Industries:</a:t>
            </a: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Used in aircraft engines, frames, jet turbines, and aerospace fasteners   due to its high strength-to-weight ratio.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Applied in automobile connecting rods, valves, and exhaust systems for weight reduction and durability.</a:t>
            </a:r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Electronics and Consumer Products: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</a:t>
            </a:r>
            <a:r>
              <a:rPr lang="en-US" dirty="0"/>
              <a:t>tilize</a:t>
            </a:r>
            <a:r>
              <a:rPr lang="en-US" sz="2000" dirty="0"/>
              <a:t>d in laptop frames, sporting goods, and luxury watches for its strength, corrosion resistance, and sleek appearance.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Thin films of titanium are used in electronic circuits and resistors.</a:t>
            </a:r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Energy and Environmental Fields: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Used in heat exchangers, desalination plants, and chemical processing equipment due to its corrosion resistance.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Catalysts in chemical reactions and anodes in electrolysis and batteries.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Potential material for hydrogen storage and fuel cell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1026" name="Picture 2" descr="Frontiers | Advances in improving tribological performance of titanium  alloys and titanium matrix composites for biomedical applications: a  critical review">
            <a:extLst>
              <a:ext uri="{FF2B5EF4-FFF2-40B4-BE49-F238E27FC236}">
                <a16:creationId xmlns:a16="http://schemas.microsoft.com/office/drawing/2014/main" id="{25853580-FB49-8934-6F06-2265869D9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071" y="1588294"/>
            <a:ext cx="4167751" cy="368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48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16DDD402-59C9-A163-52AC-E0E33896BDC2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4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D10B99-BFD9-91CA-3491-90CEF85DB825}"/>
              </a:ext>
            </a:extLst>
          </p:cNvPr>
          <p:cNvCxnSpPr>
            <a:cxnSpLocks/>
          </p:cNvCxnSpPr>
          <p:nvPr/>
        </p:nvCxnSpPr>
        <p:spPr>
          <a:xfrm>
            <a:off x="-11077" y="654663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A146D61-1579-4996-693D-75AE65A12610}"/>
              </a:ext>
            </a:extLst>
          </p:cNvPr>
          <p:cNvSpPr/>
          <p:nvPr/>
        </p:nvSpPr>
        <p:spPr>
          <a:xfrm>
            <a:off x="0" y="1"/>
            <a:ext cx="12192000" cy="19497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DAD43-2FD6-EBAC-B48A-1755B72D475F}"/>
              </a:ext>
            </a:extLst>
          </p:cNvPr>
          <p:cNvSpPr txBox="1"/>
          <p:nvPr/>
        </p:nvSpPr>
        <p:spPr>
          <a:xfrm>
            <a:off x="-11077" y="196042"/>
            <a:ext cx="6115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b="1"/>
            </a:lvl1pPr>
          </a:lstStyle>
          <a:p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28983C-E308-CA14-0B48-75DFD244AED8}"/>
              </a:ext>
            </a:extLst>
          </p:cNvPr>
          <p:cNvSpPr txBox="1"/>
          <p:nvPr/>
        </p:nvSpPr>
        <p:spPr>
          <a:xfrm>
            <a:off x="-11077" y="793965"/>
            <a:ext cx="118284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investigate and predict the thermal expansion </a:t>
            </a:r>
            <a:r>
              <a:rPr lang="en-US" sz="2000" dirty="0" err="1"/>
              <a:t>behaviour</a:t>
            </a:r>
            <a:r>
              <a:rPr lang="en-US" sz="2000" dirty="0"/>
              <a:t> of Titanium (Ti) using Molecular Dynamics (MD) simulations and Machine Learning (ML).</a:t>
            </a:r>
            <a:br>
              <a:rPr lang="en-US" sz="2000" dirty="0"/>
            </a:br>
            <a:r>
              <a:rPr lang="en-US" sz="2000" dirty="0"/>
              <a:t>The goal is to use ML models trained on MD data to rapidly estimate thermal expansion coefficients without performing new simulations for every condition.</a:t>
            </a:r>
            <a:endParaRPr lang="en-I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1CB818-9761-B9B7-180A-CBA52DE2AFF8}"/>
                  </a:ext>
                </a:extLst>
              </p:cNvPr>
              <p:cNvSpPr txBox="1"/>
              <p:nvPr/>
            </p:nvSpPr>
            <p:spPr>
              <a:xfrm>
                <a:off x="584348" y="2155295"/>
                <a:ext cx="11244112" cy="3982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solidFill>
                      <a:srgbClr val="002060"/>
                    </a:solidFill>
                  </a:rPr>
                  <a:t>Why Understand the Thermal Expansion Coefficient (</a:t>
                </a:r>
                <a:r>
                  <a:rPr lang="el-GR" sz="2400" b="1" dirty="0">
                    <a:solidFill>
                      <a:srgbClr val="002060"/>
                    </a:solidFill>
                  </a:rPr>
                  <a:t>α)?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T</a:t>
                </a:r>
                <a:r>
                  <a:rPr lang="en-IN" sz="2000" dirty="0"/>
                  <a:t>he thermal expansion coefficient measures how much a material’s dimensions change with temperature.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00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𝑑𝑇</m:t>
                        </m:r>
                      </m:den>
                    </m:f>
                    <m:r>
                      <m:rPr>
                        <m:nor/>
                      </m:rPr>
                      <a:rPr lang="ar-AE" sz="2000"/>
                      <m:t> </m:t>
                    </m:r>
                    <m:r>
                      <m:rPr>
                        <m:nor/>
                      </m:rPr>
                      <a:rPr lang="en-IN" sz="2000"/>
                      <m:t>or</m:t>
                    </m:r>
                    <m:r>
                      <m:rPr>
                        <m:nor/>
                      </m:rPr>
                      <a:rPr lang="en-IN" sz="2000"/>
                      <m:t> 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𝑑𝑇</m:t>
                        </m:r>
                      </m:den>
                    </m:f>
                  </m:oMath>
                </a14:m>
                <a:endParaRPr lang="ar-AE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It is a key thermomechanical property that determines a material’s dimensional stability under temperature variations.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Understanding </a:t>
                </a:r>
                <a:r>
                  <a:rPr lang="el-GR" sz="2000" dirty="0"/>
                  <a:t>α </a:t>
                </a:r>
                <a:r>
                  <a:rPr lang="en-IN" sz="2000" dirty="0"/>
                  <a:t>helps in:</a:t>
                </a:r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Designing high-temperature components (aerospace, automotive, power systems).</a:t>
                </a:r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Preventing thermal stress, warping, or cracks when materials expand differently.</a:t>
                </a:r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Selecting compatible materials for composites or coatings (e.g., Ti with ceramics).</a:t>
                </a:r>
              </a:p>
              <a:p>
                <a:r>
                  <a:rPr lang="en-IN" sz="2000" dirty="0"/>
                  <a:t>For Titanium, </a:t>
                </a:r>
                <a:r>
                  <a:rPr lang="el-GR" sz="2000" dirty="0"/>
                  <a:t>α </a:t>
                </a:r>
                <a:r>
                  <a:rPr lang="en-IN" sz="2000" dirty="0"/>
                  <a:t>strongly influences its mechanical performance, fatigue resistance, and structural reliability, especially in aerospace and biomedical applications.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D1CB818-9761-B9B7-180A-CBA52DE2A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48" y="2155295"/>
                <a:ext cx="11244112" cy="3982822"/>
              </a:xfrm>
              <a:prstGeom prst="rect">
                <a:avLst/>
              </a:prstGeom>
              <a:blipFill>
                <a:blip r:embed="rId2"/>
                <a:stretch>
                  <a:fillRect l="-868" t="-1225" b="-18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87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55472-EDA8-8736-BE6F-ACBADD68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1E3B338-DF63-0868-3C8D-D06B86467C0B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5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A0CAC2-83D1-DE0A-00EF-5BDBA0499026}"/>
              </a:ext>
            </a:extLst>
          </p:cNvPr>
          <p:cNvCxnSpPr>
            <a:cxnSpLocks/>
          </p:cNvCxnSpPr>
          <p:nvPr/>
        </p:nvCxnSpPr>
        <p:spPr>
          <a:xfrm>
            <a:off x="-11077" y="654663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4F8F12B-BF6B-6532-E9D2-D9BFBC0F9FB5}"/>
              </a:ext>
            </a:extLst>
          </p:cNvPr>
          <p:cNvSpPr/>
          <p:nvPr/>
        </p:nvSpPr>
        <p:spPr>
          <a:xfrm>
            <a:off x="0" y="1"/>
            <a:ext cx="12192000" cy="19497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97FF5-6DF1-5C5A-C5FB-3EFD1E15CF92}"/>
              </a:ext>
            </a:extLst>
          </p:cNvPr>
          <p:cNvSpPr txBox="1"/>
          <p:nvPr/>
        </p:nvSpPr>
        <p:spPr>
          <a:xfrm>
            <a:off x="73440" y="311364"/>
            <a:ext cx="11923295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Why Molecular Dynamics (MD)?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Captures atomic-level behavior of materials under varying temperature and pressure.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Provides accurate thermodynamic properties — energy, pressure, and volume — from first-principles or empirical potentials.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Helps in understanding microscopic origins of macroscopic phenomena (like expansion).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2000" b="1" dirty="0">
                <a:solidFill>
                  <a:srgbClr val="002060"/>
                </a:solidFill>
              </a:rPr>
              <a:t>Why Machine Learning (ML)?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Learns patterns and relationships between MD-derived features (Temp, Energy, Volume, etc.) and material properties.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Enables instant prediction of target properties (e.g., thermal expansion) for new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Reduces the need to re-run costly MD simulations.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But MD is computationally expensive and time-consuming for large temperature ranges or big systems</a:t>
            </a:r>
            <a:r>
              <a:rPr lang="en-US" i="1" dirty="0"/>
              <a:t>.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0CF74F-5F32-31F8-26A6-9CAF72789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736940"/>
              </p:ext>
            </p:extLst>
          </p:nvPr>
        </p:nvGraphicFramePr>
        <p:xfrm>
          <a:off x="405063" y="3836803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957120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35452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97906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009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 (atomic-level)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 (if trained well)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4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Very slow for each new 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Extremely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532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Computationally expensive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Negligible after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58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Generate ground-truth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Generalize and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406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56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A8185-973A-1CE5-353C-D427AAB0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6285F94-9FFA-6830-C2CA-034193BBA110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6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9DE74A-09BD-1577-F3A1-CAD1749375C3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82C6404-EC1C-2669-AB16-222AA66A5106}"/>
              </a:ext>
            </a:extLst>
          </p:cNvPr>
          <p:cNvSpPr/>
          <p:nvPr/>
        </p:nvSpPr>
        <p:spPr>
          <a:xfrm>
            <a:off x="0" y="1"/>
            <a:ext cx="12192000" cy="19497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C6614D-C4B2-AD1C-8B48-EC0DE3BA7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24766C8-FE37-C242-AED9-A550D3C7D878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D1555-16AE-C2FD-C749-029095E6B4F3}"/>
              </a:ext>
            </a:extLst>
          </p:cNvPr>
          <p:cNvSpPr txBox="1"/>
          <p:nvPr/>
        </p:nvSpPr>
        <p:spPr>
          <a:xfrm>
            <a:off x="276926" y="1658743"/>
            <a:ext cx="423616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2. Define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Temperature range: 300 K → MP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Timestep = 1 fs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BAC87-3F80-49AF-B963-3A639A8E71FF}"/>
              </a:ext>
            </a:extLst>
          </p:cNvPr>
          <p:cNvSpPr txBox="1"/>
          <p:nvPr/>
        </p:nvSpPr>
        <p:spPr>
          <a:xfrm>
            <a:off x="276926" y="1124607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Start Simulation Setup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F268D-E922-B07F-78D3-4D68AE1323CD}"/>
              </a:ext>
            </a:extLst>
          </p:cNvPr>
          <p:cNvSpPr txBox="1"/>
          <p:nvPr/>
        </p:nvSpPr>
        <p:spPr>
          <a:xfrm>
            <a:off x="276926" y="2808432"/>
            <a:ext cx="392334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3. Create Atomic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Define FCC lattice (Ti, a = 4.05 Å)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Create simulation box and atoms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B8EDCC-5D62-E177-2971-9F8DADF96FB3}"/>
              </a:ext>
            </a:extLst>
          </p:cNvPr>
          <p:cNvSpPr txBox="1"/>
          <p:nvPr/>
        </p:nvSpPr>
        <p:spPr>
          <a:xfrm>
            <a:off x="276926" y="3886845"/>
            <a:ext cx="60979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4. Assign Potential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</a:t>
            </a:r>
            <a:r>
              <a:rPr lang="en-US" dirty="0"/>
              <a:t> </a:t>
            </a:r>
            <a:r>
              <a:rPr lang="en-US" sz="2000" dirty="0"/>
              <a:t>EAM</a:t>
            </a:r>
            <a:r>
              <a:rPr lang="en-US" dirty="0"/>
              <a:t> </a:t>
            </a:r>
            <a:r>
              <a:rPr lang="en-US" sz="2000" dirty="0"/>
              <a:t>potential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42CC16-18D7-E8C5-9A69-DF5F11B05518}"/>
              </a:ext>
            </a:extLst>
          </p:cNvPr>
          <p:cNvSpPr txBox="1"/>
          <p:nvPr/>
        </p:nvSpPr>
        <p:spPr>
          <a:xfrm>
            <a:off x="276926" y="4639206"/>
            <a:ext cx="609790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5</a:t>
            </a:r>
            <a:r>
              <a:rPr lang="en-US" b="1" dirty="0"/>
              <a:t>. </a:t>
            </a:r>
            <a:r>
              <a:rPr lang="en-US" sz="2400" b="1" dirty="0">
                <a:solidFill>
                  <a:srgbClr val="002060"/>
                </a:solidFill>
              </a:rPr>
              <a:t>Initialize Velocity and Run NPT </a:t>
            </a:r>
          </a:p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Equilibration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Set temperature for each step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Allow system to reach equilibrium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B77BB4-7B09-6168-01B4-5F62D41338FA}"/>
              </a:ext>
            </a:extLst>
          </p:cNvPr>
          <p:cNvSpPr txBox="1"/>
          <p:nvPr/>
        </p:nvSpPr>
        <p:spPr>
          <a:xfrm>
            <a:off x="5817170" y="1111138"/>
            <a:ext cx="60979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6. Run Production Simulation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Record properties every 1000 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C44809-D648-AFFC-2DB9-DFC3988C34D1}"/>
              </a:ext>
            </a:extLst>
          </p:cNvPr>
          <p:cNvSpPr txBox="1"/>
          <p:nvPr/>
        </p:nvSpPr>
        <p:spPr>
          <a:xfrm>
            <a:off x="5849936" y="1821596"/>
            <a:ext cx="631507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7. Extract Output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Pressure (bar)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Kinetic, Potential, Total Energy (eV)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Volume (Å³)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Temperature (K)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883878-9EBE-1425-0A8A-63341C539944}"/>
              </a:ext>
            </a:extLst>
          </p:cNvPr>
          <p:cNvSpPr txBox="1"/>
          <p:nvPr/>
        </p:nvSpPr>
        <p:spPr>
          <a:xfrm>
            <a:off x="5868955" y="3347041"/>
            <a:ext cx="64236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8. Save Data as CSV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One file per temperature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Stored in </a:t>
            </a:r>
            <a:r>
              <a:rPr lang="en-US" sz="2000" dirty="0" err="1"/>
              <a:t>output_data</a:t>
            </a:r>
            <a:r>
              <a:rPr lang="en-US" sz="2000" dirty="0"/>
              <a:t>/ folder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925392-022E-E430-4ADE-692AA8A90BCC}"/>
              </a:ext>
            </a:extLst>
          </p:cNvPr>
          <p:cNvSpPr txBox="1"/>
          <p:nvPr/>
        </p:nvSpPr>
        <p:spPr>
          <a:xfrm>
            <a:off x="5811805" y="4533917"/>
            <a:ext cx="64808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9.</a:t>
            </a:r>
            <a:r>
              <a:rPr lang="en-US" b="1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End — Dataset Ready for ML Model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 extracted properties to calculate thermal expansion coefficient (α)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Train ML model to predict α for new materials/conditions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B75401-72DF-4054-8C82-0E7A754E639E}"/>
              </a:ext>
            </a:extLst>
          </p:cNvPr>
          <p:cNvSpPr txBox="1"/>
          <p:nvPr/>
        </p:nvSpPr>
        <p:spPr>
          <a:xfrm>
            <a:off x="65722" y="168819"/>
            <a:ext cx="5825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using MD</a:t>
            </a:r>
          </a:p>
        </p:txBody>
      </p:sp>
    </p:spTree>
    <p:extLst>
      <p:ext uri="{BB962C8B-B14F-4D97-AF65-F5344CB8AC3E}">
        <p14:creationId xmlns:p14="http://schemas.microsoft.com/office/powerpoint/2010/main" val="3400103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08B0F-0AF9-3536-CB6D-E259DC6EB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B8FE3191-4314-E147-CB74-5845506CFFF5}"/>
              </a:ext>
            </a:extLst>
          </p:cNvPr>
          <p:cNvSpPr txBox="1">
            <a:spLocks/>
          </p:cNvSpPr>
          <p:nvPr/>
        </p:nvSpPr>
        <p:spPr>
          <a:xfrm>
            <a:off x="11147732" y="6516738"/>
            <a:ext cx="1177298" cy="194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7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074C73-A325-B42B-B229-7E008DF6CEB5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8D262044-629F-DE6F-0A70-41808CDAD352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A74D63-F9CB-8740-1DA1-2A98A10B5C26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948CA-941B-4C3C-5467-ABE879E23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2" y="1418330"/>
            <a:ext cx="9986210" cy="46576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3D3AC5-0DD3-9039-F7E5-DF62D9B241B7}"/>
              </a:ext>
            </a:extLst>
          </p:cNvPr>
          <p:cNvSpPr txBox="1"/>
          <p:nvPr/>
        </p:nvSpPr>
        <p:spPr>
          <a:xfrm>
            <a:off x="136358" y="233243"/>
            <a:ext cx="6112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Machine Learning </a:t>
            </a:r>
            <a:r>
              <a:rPr lang="en-US" sz="3200" b="1" dirty="0" err="1">
                <a:solidFill>
                  <a:srgbClr val="FF0000"/>
                </a:solidFill>
              </a:rPr>
              <a:t>PipeLine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17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B6A8B-89FF-EBC0-3FD9-67859043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23AD7ECE-9045-7250-A6F4-57EB65AD1D86}"/>
              </a:ext>
            </a:extLst>
          </p:cNvPr>
          <p:cNvSpPr txBox="1">
            <a:spLocks/>
          </p:cNvSpPr>
          <p:nvPr/>
        </p:nvSpPr>
        <p:spPr>
          <a:xfrm>
            <a:off x="10891200" y="6515107"/>
            <a:ext cx="1087440" cy="342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8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91D35C-18DF-093B-AED4-C53C69BFA11C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8CE76A69-C172-FF10-F898-8FF006B758A6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B5EAC7-E7D9-389D-2299-8FFBCC3DF021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73704-2AC4-F1C9-F8D3-9C83C9B2D344}"/>
              </a:ext>
            </a:extLst>
          </p:cNvPr>
          <p:cNvSpPr txBox="1"/>
          <p:nvPr/>
        </p:nvSpPr>
        <p:spPr>
          <a:xfrm>
            <a:off x="209003" y="448524"/>
            <a:ext cx="61222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Data Obtained from MD: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2BC7E8-A11D-19C9-7BF2-D809C3ED0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05" y="1248580"/>
            <a:ext cx="9312865" cy="1886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AE17EA-5A99-655D-F6C9-F46451C1EF1E}"/>
              </a:ext>
            </a:extLst>
          </p:cNvPr>
          <p:cNvSpPr txBox="1"/>
          <p:nvPr/>
        </p:nvSpPr>
        <p:spPr>
          <a:xfrm>
            <a:off x="363405" y="3538130"/>
            <a:ext cx="61180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Data after Alpha calculated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9D4EE4-B4C6-C5A1-CB10-685D1CAF3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992" y="4150542"/>
            <a:ext cx="6125430" cy="314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826FA1-C857-003D-FD8C-3AF869622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3992" y="4523175"/>
            <a:ext cx="6125430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4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4C59-8230-2C92-1FAE-376B202F1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BCA4C88-745B-2437-C1F5-B4F02D5E30E3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9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DF967C-E564-5275-947A-1AF8194727B7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0BE71B8-31FA-2737-A733-642A0F1ACAD3}"/>
              </a:ext>
            </a:extLst>
          </p:cNvPr>
          <p:cNvSpPr/>
          <p:nvPr/>
        </p:nvSpPr>
        <p:spPr>
          <a:xfrm>
            <a:off x="0" y="1"/>
            <a:ext cx="12192000" cy="19497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2B106-80D7-68DE-0714-1F02D76E2DF4}"/>
              </a:ext>
            </a:extLst>
          </p:cNvPr>
          <p:cNvSpPr txBox="1"/>
          <p:nvPr/>
        </p:nvSpPr>
        <p:spPr>
          <a:xfrm>
            <a:off x="346362" y="1513375"/>
            <a:ext cx="114992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Definition:</a:t>
            </a:r>
            <a:br>
              <a:rPr lang="en-US" dirty="0"/>
            </a:br>
            <a:r>
              <a:rPr lang="en-US" sz="2000" dirty="0"/>
              <a:t>Linear Regression is a supervised machine learning algorithm used to model the relationship between one or more input features (independent variables) and a continuous output (dependent variable). It assumes that the output can be represented as a linear combination of the input variables.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4AAEAF-8035-A17A-D749-ADA35997675F}"/>
              </a:ext>
            </a:extLst>
          </p:cNvPr>
          <p:cNvSpPr txBox="1"/>
          <p:nvPr/>
        </p:nvSpPr>
        <p:spPr>
          <a:xfrm>
            <a:off x="457200" y="4078997"/>
            <a:ext cx="934516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002060"/>
                </a:solidFill>
              </a:rPr>
              <a:t>MD → ML Workflow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/>
              <a:t>In your case: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/>
              <a:t>Inputs (X): Temperature, Potential Energy, Pressure, Volume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/>
              <a:t>Output (y): Thermal Expansion Coefficient (</a:t>
            </a:r>
            <a:r>
              <a:rPr lang="el-GR" sz="2000" dirty="0"/>
              <a:t>α)</a:t>
            </a:r>
            <a:br>
              <a:rPr lang="el-GR" sz="2000" dirty="0"/>
            </a:br>
            <a:r>
              <a:rPr lang="en-IN" sz="2000" dirty="0"/>
              <a:t>Linear regression finds how </a:t>
            </a:r>
            <a:r>
              <a:rPr lang="el-GR" sz="2000" dirty="0"/>
              <a:t>α </a:t>
            </a:r>
            <a:r>
              <a:rPr lang="en-IN" sz="2000" dirty="0"/>
              <a:t>changes linearly with thermodynamic variables — providing a fast and interpretable prediction model.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7635C4-8BF5-7A84-222F-085F9C0B4A9D}"/>
                  </a:ext>
                </a:extLst>
              </p:cNvPr>
              <p:cNvSpPr txBox="1"/>
              <p:nvPr/>
            </p:nvSpPr>
            <p:spPr>
              <a:xfrm>
                <a:off x="329184" y="3156689"/>
                <a:ext cx="6638544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b="1" dirty="0">
                    <a:solidFill>
                      <a:srgbClr val="002060"/>
                    </a:solidFill>
                  </a:rPr>
                  <a:t>For multiple linear regression:</a:t>
                </a:r>
              </a:p>
              <a:p>
                <a:pPr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ar-AE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7635C4-8BF5-7A84-222F-085F9C0B4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" y="3156689"/>
                <a:ext cx="6638544" cy="769441"/>
              </a:xfrm>
              <a:prstGeom prst="rect">
                <a:avLst/>
              </a:prstGeom>
              <a:blipFill>
                <a:blip r:embed="rId2"/>
                <a:stretch>
                  <a:fillRect l="-1377" t="-6349" b="-1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D9F5CA8-52D4-7298-B261-987848009188}"/>
              </a:ext>
            </a:extLst>
          </p:cNvPr>
          <p:cNvSpPr txBox="1"/>
          <p:nvPr/>
        </p:nvSpPr>
        <p:spPr>
          <a:xfrm>
            <a:off x="346362" y="611789"/>
            <a:ext cx="6117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Model</a:t>
            </a:r>
          </a:p>
        </p:txBody>
      </p:sp>
    </p:spTree>
    <p:extLst>
      <p:ext uri="{BB962C8B-B14F-4D97-AF65-F5344CB8AC3E}">
        <p14:creationId xmlns:p14="http://schemas.microsoft.com/office/powerpoint/2010/main" val="3271394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109B1-0D5F-883D-B138-DCFC2F98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A72B2DE-D7FF-ADB9-8777-958E474F7480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10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9B0B6D-4FFD-21C5-F54E-50DA9E8E6C0D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7752264-DF1D-E1D3-E5EC-3FE26B5E8CC1}"/>
              </a:ext>
            </a:extLst>
          </p:cNvPr>
          <p:cNvSpPr/>
          <p:nvPr/>
        </p:nvSpPr>
        <p:spPr>
          <a:xfrm>
            <a:off x="0" y="1"/>
            <a:ext cx="12192000" cy="19497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B6D31-E653-8F6B-FF64-4D8A0F93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E7FEC3-BC5C-8C7D-01F2-68F4268FC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13" y="964658"/>
            <a:ext cx="1038987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Random Forest Regressor Used to predict the thermal expansion coefficient (α) from MD-derived features such as Temperature, Pressure, Energy, and Volume.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Concept: Random Forest is an ensemble learning method that builds multiple Decision Trees and averages their predictions to improve accuracy and reduce overfitting.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BA380A-47C7-7896-840F-4B7609AF1098}"/>
                  </a:ext>
                </a:extLst>
              </p:cNvPr>
              <p:cNvSpPr txBox="1"/>
              <p:nvPr/>
            </p:nvSpPr>
            <p:spPr>
              <a:xfrm>
                <a:off x="237173" y="2415756"/>
                <a:ext cx="6097904" cy="2866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solidFill>
                      <a:srgbClr val="002060"/>
                    </a:solidFill>
                  </a:rPr>
                  <a:t>Model Representation</a:t>
                </a:r>
              </a:p>
              <a:p>
                <a:pPr>
                  <a:buNone/>
                </a:pPr>
                <a:r>
                  <a:rPr lang="en-IN" sz="2000" dirty="0"/>
                  <a:t>If there are N decision trees: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where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2000" dirty="0"/>
                  <a:t>: </a:t>
                </a:r>
                <a:r>
                  <a:rPr lang="en-IN" sz="2000" dirty="0"/>
                  <a:t>prediction from the </a:t>
                </a:r>
                <a:r>
                  <a:rPr lang="en-IN" sz="2000" dirty="0" err="1"/>
                  <a:t>i-th</a:t>
                </a:r>
                <a:r>
                  <a:rPr lang="en-IN" sz="2000" dirty="0"/>
                  <a:t> tree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ar-AE" sz="2000" dirty="0"/>
                  <a:t>: </a:t>
                </a:r>
                <a:r>
                  <a:rPr lang="en-IN" sz="2000" dirty="0"/>
                  <a:t>final predicted value of thermal expansion coefficient (</a:t>
                </a:r>
                <a:r>
                  <a:rPr lang="el-GR" sz="2000" dirty="0"/>
                  <a:t>α)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BA380A-47C7-7896-840F-4B7609AF1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73" y="2415756"/>
                <a:ext cx="6097904" cy="2866041"/>
              </a:xfrm>
              <a:prstGeom prst="rect">
                <a:avLst/>
              </a:prstGeom>
              <a:blipFill>
                <a:blip r:embed="rId2"/>
                <a:stretch>
                  <a:fillRect l="-1600" t="-1702" r="-1300" b="-29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>
            <a:extLst>
              <a:ext uri="{FF2B5EF4-FFF2-40B4-BE49-F238E27FC236}">
                <a16:creationId xmlns:a16="http://schemas.microsoft.com/office/drawing/2014/main" id="{36CBB8CC-F28E-E871-988B-84BA497C5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73" y="5389590"/>
            <a:ext cx="105156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Each tree is trained on a random subset of data (bootstrap sampling) and a random subset of features, ensuring robustness and generalization.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FC775F-0511-26F2-5260-4D084678848D}"/>
              </a:ext>
            </a:extLst>
          </p:cNvPr>
          <p:cNvSpPr txBox="1"/>
          <p:nvPr/>
        </p:nvSpPr>
        <p:spPr>
          <a:xfrm>
            <a:off x="125730" y="253456"/>
            <a:ext cx="5198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IN" dirty="0"/>
              <a:t> 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en-IN" dirty="0"/>
              <a:t> 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</a:p>
        </p:txBody>
      </p:sp>
    </p:spTree>
    <p:extLst>
      <p:ext uri="{BB962C8B-B14F-4D97-AF65-F5344CB8AC3E}">
        <p14:creationId xmlns:p14="http://schemas.microsoft.com/office/powerpoint/2010/main" val="957972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CF1B-5384-867B-46C8-F4C0F94E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64CC511-A268-CE41-D2EC-FE1A4EF7A079}"/>
              </a:ext>
            </a:extLst>
          </p:cNvPr>
          <p:cNvSpPr txBox="1">
            <a:spLocks/>
          </p:cNvSpPr>
          <p:nvPr/>
        </p:nvSpPr>
        <p:spPr>
          <a:xfrm>
            <a:off x="11315700" y="6409475"/>
            <a:ext cx="849310" cy="403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11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3E5D95E-AC0E-4FE2-AE9A-BD45850E1FBE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CBF8C440-D0DD-D8C8-0AFE-35178B848406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EA8FCA-1FA7-0C6E-1402-1F5DF0B81B8B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D56E0-72DE-9BCC-5D69-A0CD694CEA65}"/>
              </a:ext>
            </a:extLst>
          </p:cNvPr>
          <p:cNvSpPr txBox="1"/>
          <p:nvPr/>
        </p:nvSpPr>
        <p:spPr>
          <a:xfrm>
            <a:off x="104827" y="233243"/>
            <a:ext cx="6112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Model Comparison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A4DA09-FB73-04D4-5D0F-7FEDBEBF2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788" y="1051260"/>
            <a:ext cx="7716837" cy="516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707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34C23-3062-8373-F6AC-617E4E983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80B71B-1382-D90C-E14A-BD21741672B8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037DB9C-6C3F-7837-BFA8-6932DB9D7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560193"/>
              </p:ext>
            </p:extLst>
          </p:nvPr>
        </p:nvGraphicFramePr>
        <p:xfrm>
          <a:off x="637674" y="1227479"/>
          <a:ext cx="9960835" cy="27093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47246">
                  <a:extLst>
                    <a:ext uri="{9D8B030D-6E8A-4147-A177-3AD203B41FA5}">
                      <a16:colId xmlns:a16="http://schemas.microsoft.com/office/drawing/2014/main" val="2133896654"/>
                    </a:ext>
                  </a:extLst>
                </a:gridCol>
                <a:gridCol w="1549892">
                  <a:extLst>
                    <a:ext uri="{9D8B030D-6E8A-4147-A177-3AD203B41FA5}">
                      <a16:colId xmlns:a16="http://schemas.microsoft.com/office/drawing/2014/main" val="1727885228"/>
                    </a:ext>
                  </a:extLst>
                </a:gridCol>
                <a:gridCol w="2161674">
                  <a:extLst>
                    <a:ext uri="{9D8B030D-6E8A-4147-A177-3AD203B41FA5}">
                      <a16:colId xmlns:a16="http://schemas.microsoft.com/office/drawing/2014/main" val="807077095"/>
                    </a:ext>
                  </a:extLst>
                </a:gridCol>
                <a:gridCol w="1302107">
                  <a:extLst>
                    <a:ext uri="{9D8B030D-6E8A-4147-A177-3AD203B41FA5}">
                      <a16:colId xmlns:a16="http://schemas.microsoft.com/office/drawing/2014/main" val="381293310"/>
                    </a:ext>
                  </a:extLst>
                </a:gridCol>
                <a:gridCol w="1999916">
                  <a:extLst>
                    <a:ext uri="{9D8B030D-6E8A-4147-A177-3AD203B41FA5}">
                      <a16:colId xmlns:a16="http://schemas.microsoft.com/office/drawing/2014/main" val="2543455565"/>
                    </a:ext>
                  </a:extLst>
                </a:gridCol>
              </a:tblGrid>
              <a:tr h="903111">
                <a:tc>
                  <a:txBody>
                    <a:bodyPr/>
                    <a:lstStyle/>
                    <a:p>
                      <a:r>
                        <a:rPr lang="en-IN" sz="3200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000" dirty="0"/>
                        <a:t>Train R²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000" dirty="0"/>
                        <a:t>Train RMSE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000" dirty="0"/>
                        <a:t>Test R²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000" dirty="0"/>
                        <a:t>Test RMSE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47417"/>
                  </a:ext>
                </a:extLst>
              </a:tr>
              <a:tr h="9031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Linear Regression: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0.4913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0.000066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0.6452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0.000066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025115"/>
                  </a:ext>
                </a:extLst>
              </a:tr>
              <a:tr h="9031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000" dirty="0"/>
                        <a:t>Random Forest: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0.9418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0.000022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0.7695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0.000053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92202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8F1DE67-ABBD-CD7B-A35C-38DECB5FFAE9}"/>
              </a:ext>
            </a:extLst>
          </p:cNvPr>
          <p:cNvSpPr txBox="1"/>
          <p:nvPr/>
        </p:nvSpPr>
        <p:spPr>
          <a:xfrm>
            <a:off x="637674" y="553453"/>
            <a:ext cx="5209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Model</a:t>
            </a:r>
            <a:r>
              <a:rPr lang="en-IN" sz="2800" b="1" dirty="0"/>
              <a:t> </a:t>
            </a:r>
            <a:r>
              <a:rPr lang="en-IN" sz="2800" b="1" dirty="0">
                <a:solidFill>
                  <a:srgbClr val="FF0000"/>
                </a:solidFill>
              </a:rPr>
              <a:t>Performance Comparison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F0FB8-5C10-7E7A-093D-2E4EFED38634}"/>
              </a:ext>
            </a:extLst>
          </p:cNvPr>
          <p:cNvSpPr txBox="1"/>
          <p:nvPr/>
        </p:nvSpPr>
        <p:spPr>
          <a:xfrm>
            <a:off x="721895" y="4555504"/>
            <a:ext cx="102027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1.</a:t>
            </a:r>
            <a:r>
              <a:rPr lang="en-US" sz="2000" dirty="0"/>
              <a:t>Random Forest achieved higher accuracy than Linear Regression, indicating it captures non-linear relationships better.</a:t>
            </a:r>
            <a:br>
              <a:rPr lang="en-US" sz="2000" dirty="0"/>
            </a:br>
            <a:r>
              <a:rPr lang="en-US" sz="2000" b="1" dirty="0"/>
              <a:t>2.</a:t>
            </a:r>
            <a:r>
              <a:rPr lang="en-US" sz="2000" dirty="0"/>
              <a:t>The Train R² (0.94) and Test R² (0.77) of Random Forest show strong predictive performance with minimal overfitting.</a:t>
            </a:r>
          </a:p>
          <a:p>
            <a:r>
              <a:rPr lang="en-US" sz="2000" b="1" dirty="0"/>
              <a:t>3.</a:t>
            </a:r>
            <a:r>
              <a:rPr lang="en-US" sz="2000" dirty="0"/>
              <a:t>Linear Regression performed moderately (Test R² = 0.65), suggesting a mostly linear but not perfect relationship</a:t>
            </a:r>
          </a:p>
          <a:p>
            <a:endParaRPr lang="en-IN" sz="20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45BA5A6-5483-23B3-F0D6-90A23F9753FF}"/>
              </a:ext>
            </a:extLst>
          </p:cNvPr>
          <p:cNvCxnSpPr>
            <a:cxnSpLocks/>
          </p:cNvCxnSpPr>
          <p:nvPr/>
        </p:nvCxnSpPr>
        <p:spPr>
          <a:xfrm>
            <a:off x="0" y="6565886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6A1942-72A0-AA9D-7E19-83658EF68A8D}"/>
              </a:ext>
            </a:extLst>
          </p:cNvPr>
          <p:cNvSpPr txBox="1"/>
          <p:nvPr/>
        </p:nvSpPr>
        <p:spPr>
          <a:xfrm>
            <a:off x="11470105" y="6565886"/>
            <a:ext cx="611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866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C4A71-263B-83D8-1EA1-C101BF891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C326AC-909D-E33C-BDF1-666457267E52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F40231-AC43-4CF5-B0E2-467F89A77364}"/>
              </a:ext>
            </a:extLst>
          </p:cNvPr>
          <p:cNvCxnSpPr>
            <a:cxnSpLocks/>
          </p:cNvCxnSpPr>
          <p:nvPr/>
        </p:nvCxnSpPr>
        <p:spPr>
          <a:xfrm>
            <a:off x="0" y="6565886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0B04946-D6B1-5499-B09A-AF588EFCFE55}"/>
              </a:ext>
            </a:extLst>
          </p:cNvPr>
          <p:cNvSpPr txBox="1"/>
          <p:nvPr/>
        </p:nvSpPr>
        <p:spPr>
          <a:xfrm>
            <a:off x="11470105" y="6565886"/>
            <a:ext cx="611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/>
              <a:t>13</a:t>
            </a:fld>
            <a:endParaRPr lang="en-IN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5BEA9A3-4337-E46E-FA23-96269A773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964" y="1224213"/>
            <a:ext cx="5043819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CB9701-0E60-71CA-6773-11F2E0F71363}"/>
              </a:ext>
            </a:extLst>
          </p:cNvPr>
          <p:cNvSpPr txBox="1"/>
          <p:nvPr/>
        </p:nvSpPr>
        <p:spPr>
          <a:xfrm>
            <a:off x="381707" y="1348739"/>
            <a:ext cx="61105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The ideal line shows perfect prediction (Predicted = Actual).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Random Forest points lie closer to it, capturing non-linear atomic interactions better.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Linear Regression deviates more, missing complex relationships.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Data spread arises from MD fluctuations in vibration, energy, and volume.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Positive/negative α reflect local expansion and contraction due to anharmonic and lattice distortions.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Overall, Random Forest generalizes better with lower prediction error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22AAE-99D9-A3F4-5A1D-9F48BD72C355}"/>
              </a:ext>
            </a:extLst>
          </p:cNvPr>
          <p:cNvSpPr txBox="1"/>
          <p:nvPr/>
        </p:nvSpPr>
        <p:spPr>
          <a:xfrm>
            <a:off x="381707" y="498603"/>
            <a:ext cx="87953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Inference: Actual vs Predicted α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094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89CA1E-6BB7-5DBB-447B-F5FA00FB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7820" y="6492875"/>
            <a:ext cx="2743200" cy="365125"/>
          </a:xfrm>
        </p:spPr>
        <p:txBody>
          <a:bodyPr/>
          <a:lstStyle/>
          <a:p>
            <a:fld id="{424766C8-FE37-C242-AED9-A550D3C7D878}" type="slidenum">
              <a:rPr lang="en-US" smtClean="0"/>
              <a:t>14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A8A7593-E6BA-B9F0-6259-70F26C541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489" y="697405"/>
            <a:ext cx="8115301" cy="508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A5B9D9-7904-9A00-CCB3-08BBD48AF284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662F2C-B583-07A7-4E0E-996676E566BC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529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51A9-D02E-9777-E6B9-57F86D53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365EA02E-8316-FD47-9198-EB9F0BEE26EB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15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3095B52-AE32-A40C-AEB0-E12C3CF63120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BD5A400E-F8E4-E750-F1B7-5C4EFC19B4A4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D7C3A-035B-9882-66EF-4419AC4C4926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896ED-2E46-7E11-758C-FB7C00D7F4EF}"/>
              </a:ext>
            </a:extLst>
          </p:cNvPr>
          <p:cNvSpPr txBox="1"/>
          <p:nvPr/>
        </p:nvSpPr>
        <p:spPr>
          <a:xfrm>
            <a:off x="208138" y="680926"/>
            <a:ext cx="111532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Feature</a:t>
            </a:r>
            <a:r>
              <a:rPr lang="en-US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Importance</a:t>
            </a:r>
            <a:r>
              <a:rPr lang="en-US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Analysis</a:t>
            </a:r>
            <a:r>
              <a:rPr lang="en-US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for</a:t>
            </a:r>
            <a:r>
              <a:rPr lang="en-US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Thermal</a:t>
            </a:r>
            <a:r>
              <a:rPr lang="en-US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Expansion</a:t>
            </a:r>
            <a:r>
              <a:rPr lang="en-US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Prediction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BB0BC-FF8C-B424-67A5-738326A5F7BC}"/>
              </a:ext>
            </a:extLst>
          </p:cNvPr>
          <p:cNvSpPr txBox="1"/>
          <p:nvPr/>
        </p:nvSpPr>
        <p:spPr>
          <a:xfrm>
            <a:off x="516749" y="1601315"/>
            <a:ext cx="1069608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-285750">
              <a:buFont typeface="+mj-lt"/>
              <a:buAutoNum type="arabicPeriod"/>
            </a:pPr>
            <a:r>
              <a:rPr lang="en-US" sz="2000" b="1" dirty="0"/>
              <a:t>Temperature (Temp) </a:t>
            </a:r>
            <a:r>
              <a:rPr lang="en-US" sz="2000" dirty="0"/>
              <a:t>is the most dominant factor, showing the strongest influence on the thermal expansion coefficient (α).</a:t>
            </a:r>
            <a:br>
              <a:rPr lang="en-US" dirty="0"/>
            </a:br>
            <a:r>
              <a:rPr lang="en-US" dirty="0"/>
              <a:t>→ </a:t>
            </a:r>
            <a:r>
              <a:rPr lang="en-US" sz="2000" dirty="0"/>
              <a:t>Reflects the direct physical link between heat energy and lattice expansion.</a:t>
            </a:r>
          </a:p>
          <a:p>
            <a:r>
              <a:rPr lang="en-US" sz="2000" b="1" dirty="0" err="1"/>
              <a:t>dV</a:t>
            </a:r>
            <a:r>
              <a:rPr lang="en-US" sz="2000" b="1" dirty="0"/>
              <a:t>/dT and </a:t>
            </a:r>
            <a:r>
              <a:rPr lang="en-US" sz="2000" b="1" dirty="0" err="1"/>
              <a:t>Etot</a:t>
            </a:r>
            <a:r>
              <a:rPr lang="en-US" sz="2000" b="1" dirty="0"/>
              <a:t> (Total Energy) </a:t>
            </a:r>
            <a:r>
              <a:rPr lang="en-US" sz="2000" dirty="0"/>
              <a:t>contribute moderately, capturing the thermodynamic and structural response of Ti crystal to temperature changes</a:t>
            </a:r>
            <a:r>
              <a:rPr lang="en-US" dirty="0"/>
              <a:t>.</a:t>
            </a:r>
          </a:p>
          <a:p>
            <a:r>
              <a:rPr lang="en-US" sz="2000" b="1" dirty="0"/>
              <a:t>Volume (Vol) </a:t>
            </a:r>
            <a:r>
              <a:rPr lang="en-US" sz="2000" dirty="0"/>
              <a:t>shows minimal effect, indicating that absolute volume is less significant than its rate of change with temperature</a:t>
            </a:r>
            <a:r>
              <a:rPr lang="en-US" dirty="0"/>
              <a:t>.</a:t>
            </a:r>
          </a:p>
          <a:p>
            <a:pPr marL="0" lvl="1" indent="-285750">
              <a:buFont typeface="+mj-lt"/>
              <a:buAutoNum type="arabicPeriod"/>
            </a:pPr>
            <a:r>
              <a:rPr lang="en-US" sz="2000" b="1" dirty="0"/>
              <a:t>Linear Regression </a:t>
            </a:r>
            <a:r>
              <a:rPr lang="en-US" sz="2000" dirty="0"/>
              <a:t>emphasizes linear relationships — mainly </a:t>
            </a:r>
            <a:r>
              <a:rPr lang="en-US" sz="2000" dirty="0" err="1"/>
              <a:t>Etot</a:t>
            </a:r>
            <a:r>
              <a:rPr lang="en-US" sz="2000" dirty="0"/>
              <a:t> and </a:t>
            </a:r>
            <a:r>
              <a:rPr lang="en-US" sz="2000" dirty="0" err="1"/>
              <a:t>dV</a:t>
            </a:r>
            <a:r>
              <a:rPr lang="en-US" sz="2000" dirty="0"/>
              <a:t>/</a:t>
            </a:r>
            <a:r>
              <a:rPr lang="en-US" sz="2000" dirty="0" err="1"/>
              <a:t>dT.</a:t>
            </a:r>
            <a:endParaRPr lang="en-US" sz="2000" dirty="0"/>
          </a:p>
          <a:p>
            <a:pPr marL="0" lvl="1" indent="-285750">
              <a:buFont typeface="+mj-lt"/>
              <a:buAutoNum type="arabicPeriod"/>
            </a:pPr>
            <a:r>
              <a:rPr lang="en-US" sz="2000" b="1" dirty="0"/>
              <a:t>Random Forest Regressor </a:t>
            </a:r>
            <a:r>
              <a:rPr lang="en-US" sz="2000" dirty="0"/>
              <a:t>captures non-linear temperature dependencies, giving higher importance to Temp.</a:t>
            </a:r>
          </a:p>
          <a:p>
            <a:pPr marL="0" lvl="1" indent="-285750">
              <a:buFont typeface="+mj-lt"/>
              <a:buAutoNum type="arabicPeriod"/>
            </a:pPr>
            <a:r>
              <a:rPr lang="en-US" sz="2000" dirty="0"/>
              <a:t>Together, both models confirm that thermal expansion behavior is strongly temperature-dependent, with non-linear correlations better handled by Random Forest.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62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38E19-2110-D251-EADC-11AC11A4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CA12492-70C2-252F-92E4-26CC65337578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16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2C27F8-A208-F319-BCB7-7C9671124725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D82ED126-59DD-505E-1C8C-9910FA67AE84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196DEF-E961-D329-C309-E84F96519D4A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A2180-F108-D8BB-743F-6B12B55D7493}"/>
              </a:ext>
            </a:extLst>
          </p:cNvPr>
          <p:cNvSpPr txBox="1"/>
          <p:nvPr/>
        </p:nvSpPr>
        <p:spPr>
          <a:xfrm>
            <a:off x="262759" y="427344"/>
            <a:ext cx="1406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Results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598387-5817-A5CC-FE9C-51D75BCE7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673" y="562849"/>
            <a:ext cx="8325854" cy="580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42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F54F7-C225-F4FE-A6B5-1699C5A1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6238634-CC06-B3F4-0AEB-ABD7AA0E58AA}"/>
              </a:ext>
            </a:extLst>
          </p:cNvPr>
          <p:cNvSpPr txBox="1">
            <a:spLocks/>
          </p:cNvSpPr>
          <p:nvPr/>
        </p:nvSpPr>
        <p:spPr>
          <a:xfrm>
            <a:off x="11430000" y="6409475"/>
            <a:ext cx="735010" cy="403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17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159DB8D-766B-6D28-B9B0-E32538883DE8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80BF2A27-8C03-C401-E10C-3369A638D3BC}"/>
              </a:ext>
            </a:extLst>
          </p:cNvPr>
          <p:cNvSpPr/>
          <p:nvPr/>
        </p:nvSpPr>
        <p:spPr>
          <a:xfrm>
            <a:off x="-11077" y="308915"/>
            <a:ext cx="12618720" cy="6240170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</a:rPr>
              <a:t>Inferences from Temperature vs Thermal Expansion Coefficient (α)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Trend Observation:</a:t>
            </a:r>
            <a:br>
              <a:rPr lang="en-US" dirty="0"/>
            </a:br>
            <a:r>
              <a:rPr lang="en-US" sz="2000" dirty="0"/>
              <a:t>α increases with temperature from 300 K → 700 K, indicating normal lattice expansion — atoms vibrate more and occupy larger average spacing.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Positive and Negative α:</a:t>
            </a:r>
            <a:endParaRPr lang="en-US" dirty="0"/>
          </a:p>
          <a:p>
            <a:pPr marL="0" lvl="1" indent="-285750">
              <a:buFont typeface="+mj-lt"/>
              <a:buAutoNum type="arabicPeriod"/>
            </a:pPr>
            <a:r>
              <a:rPr lang="en-US" sz="2000" dirty="0"/>
              <a:t>Positive α → material expands on heating (common metallic behavior).</a:t>
            </a:r>
          </a:p>
          <a:p>
            <a:pPr marL="0" lvl="1" indent="-285750">
              <a:buFont typeface="+mj-lt"/>
              <a:buAutoNum type="arabicPeriod"/>
            </a:pPr>
            <a:r>
              <a:rPr lang="en-US" sz="2000" dirty="0"/>
              <a:t>Negative α → slight contraction at lower temperatures due to anharmonic vibration imbalance or numerical fluctuations in MD data.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Fluctuations Around 750–850 K:</a:t>
            </a:r>
            <a:br>
              <a:rPr lang="en-US" dirty="0"/>
            </a:br>
            <a:r>
              <a:rPr lang="en-US" sz="2000" dirty="0"/>
              <a:t>Sudden rise and dip correspond to anharmonic effects or possible α→β phase transition region of Ti, where lattice rearrangement temporarily alters expansion behavior.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Model Performance Insight:</a:t>
            </a:r>
            <a:endParaRPr lang="en-US" dirty="0"/>
          </a:p>
          <a:p>
            <a:pPr marL="0" lvl="1" indent="-285750">
              <a:buFont typeface="+mj-lt"/>
              <a:buAutoNum type="arabicPeriod"/>
            </a:pPr>
            <a:r>
              <a:rPr lang="en-US" sz="2000" dirty="0"/>
              <a:t>Linear Regression captures the overall trend.</a:t>
            </a:r>
          </a:p>
          <a:p>
            <a:pPr marL="0" lvl="1" indent="-285750">
              <a:buFont typeface="+mj-lt"/>
              <a:buAutoNum type="arabicPeriod"/>
            </a:pPr>
            <a:r>
              <a:rPr lang="en-US" sz="2000" dirty="0"/>
              <a:t>Random Forest better follows local variations due to its non-linear modeling strength.</a:t>
            </a:r>
            <a:br>
              <a:rPr lang="en-US" sz="2000" dirty="0"/>
            </a:br>
            <a:r>
              <a:rPr lang="en-US" sz="2000" dirty="0"/>
              <a:t>Both show reasonable agreement with actual MD-derived α values.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Physical Interpretation:</a:t>
            </a:r>
            <a:br>
              <a:rPr lang="en-US" dirty="0"/>
            </a:br>
            <a:r>
              <a:rPr lang="en-US" sz="2000" dirty="0"/>
              <a:t>The near-zero average α values are realistic for Ti’s low thermal expansion nature, confirming that the MD simulation produced physically meaningful data.</a:t>
            </a:r>
          </a:p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9CF287-E496-44F7-C124-48A881D6C95B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3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E73F8-D53B-96DF-CA98-ABF19A6FD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93C388A-AE0D-0FDF-9B41-61234B609E21}"/>
              </a:ext>
            </a:extLst>
          </p:cNvPr>
          <p:cNvSpPr txBox="1">
            <a:spLocks/>
          </p:cNvSpPr>
          <p:nvPr/>
        </p:nvSpPr>
        <p:spPr>
          <a:xfrm>
            <a:off x="11333747" y="6409475"/>
            <a:ext cx="831263" cy="4030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4766C8-FE37-C242-AED9-A550D3C7D878}" type="slidenum">
              <a:rPr lang="en-US" sz="1800" b="1" smtClean="0">
                <a:solidFill>
                  <a:srgbClr val="691450"/>
                </a:solidFill>
              </a:rPr>
              <a:pPr algn="ctr"/>
              <a:t>18</a:t>
            </a:fld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9CEAA3B-86BC-C4E8-201F-D0542445A16D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4EC0B8AA-5F86-4AD6-E3D8-F2C2582B032D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C70EE-F42F-E95A-62BE-26928CC64F4A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E36D6-9EC1-7F29-7D7A-5F74F05D5B52}"/>
              </a:ext>
            </a:extLst>
          </p:cNvPr>
          <p:cNvSpPr txBox="1"/>
          <p:nvPr/>
        </p:nvSpPr>
        <p:spPr>
          <a:xfrm>
            <a:off x="136358" y="233243"/>
            <a:ext cx="6112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Conclusion: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36C96C-59EA-3AA9-2F25-6FA942EDEA05}"/>
                  </a:ext>
                </a:extLst>
              </p:cNvPr>
              <p:cNvSpPr txBox="1"/>
              <p:nvPr/>
            </p:nvSpPr>
            <p:spPr>
              <a:xfrm>
                <a:off x="136358" y="951398"/>
                <a:ext cx="11567203" cy="495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2060"/>
                    </a:solidFill>
                  </a:rPr>
                  <a:t>Successful ML Integration:</a:t>
                </a:r>
              </a:p>
              <a:p>
                <a:r>
                  <a:rPr lang="en-US" sz="2000" dirty="0"/>
                  <a:t>Machine learning models were effectively trained on LAMMPS simulation data to predict thermal expansion coefficient with high precision.</a:t>
                </a:r>
              </a:p>
              <a:p>
                <a:endParaRPr lang="en-US" sz="2000" dirty="0"/>
              </a:p>
              <a:p>
                <a:r>
                  <a:rPr lang="en-US" sz="2400" b="1" dirty="0">
                    <a:solidFill>
                      <a:srgbClr val="002060"/>
                    </a:solidFill>
                  </a:rPr>
                  <a:t>High Predictive Accuracy:</a:t>
                </a:r>
              </a:p>
              <a:p>
                <a:r>
                  <a:rPr lang="en-US" sz="2000" dirty="0"/>
                  <a:t>All models achieved strong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&gt;</a:t>
                </a:r>
                <a:r>
                  <a:rPr lang="en-IN" sz="2000" dirty="0"/>
                  <a:t> 0.4913</a:t>
                </a:r>
                <a:r>
                  <a:rPr lang="en-US" sz="2000" dirty="0"/>
                  <a:t>, with </a:t>
                </a:r>
                <a:r>
                  <a:rPr lang="en-IN" sz="2000" dirty="0"/>
                  <a:t>Random forest </a:t>
                </a:r>
                <a:r>
                  <a:rPr lang="en-US" sz="2000" dirty="0"/>
                  <a:t>delivering the best performance and lowest RMSE (~</a:t>
                </a:r>
                <a:r>
                  <a:rPr lang="en-IN" sz="2000" dirty="0"/>
                  <a:t> 0.000053</a:t>
                </a:r>
                <a:r>
                  <a:rPr lang="en-US" sz="2000" dirty="0"/>
                  <a:t>).</a:t>
                </a:r>
              </a:p>
              <a:p>
                <a:endParaRPr lang="en-US" sz="2000" dirty="0"/>
              </a:p>
              <a:p>
                <a:r>
                  <a:rPr lang="en-US" sz="2400" b="1" dirty="0">
                    <a:solidFill>
                      <a:srgbClr val="002060"/>
                    </a:solidFill>
                  </a:rPr>
                  <a:t>Physical Insight:</a:t>
                </a:r>
              </a:p>
              <a:p>
                <a:r>
                  <a:rPr lang="en-US" sz="2000" dirty="0"/>
                  <a:t>thermal expansion coefficient showed strong correlation with Temperature, Volume , Total  Energy revealing consistent thermodynamic relationships.</a:t>
                </a:r>
              </a:p>
              <a:p>
                <a:endParaRPr lang="en-US" sz="2000" dirty="0"/>
              </a:p>
              <a:p>
                <a:r>
                  <a:rPr lang="en-US" sz="2400" b="1" dirty="0">
                    <a:solidFill>
                      <a:srgbClr val="002060"/>
                    </a:solidFill>
                  </a:rPr>
                  <a:t>Overall Outcome:</a:t>
                </a:r>
              </a:p>
              <a:p>
                <a:r>
                  <a:rPr lang="en-US" sz="2000" dirty="0"/>
                  <a:t>The study demonstrates that ML models — especially Random Forest— can accurately replicate molecular dynamics results, reducing computational cost for future simulations.</a:t>
                </a:r>
                <a:endParaRPr lang="en-IN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36C96C-59EA-3AA9-2F25-6FA942EDE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58" y="951398"/>
                <a:ext cx="11567203" cy="4955203"/>
              </a:xfrm>
              <a:prstGeom prst="rect">
                <a:avLst/>
              </a:prstGeom>
              <a:blipFill>
                <a:blip r:embed="rId3"/>
                <a:stretch>
                  <a:fillRect l="-790" t="-984" b="-1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70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22310</TotalTime>
  <Words>1673</Words>
  <Application>Microsoft Office PowerPoint</Application>
  <PresentationFormat>Widescreen</PresentationFormat>
  <Paragraphs>215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Vijay Choyal</dc:creator>
  <cp:lastModifiedBy>Nagaraju Yellanki</cp:lastModifiedBy>
  <cp:revision>16</cp:revision>
  <dcterms:created xsi:type="dcterms:W3CDTF">2023-04-12T16:28:37Z</dcterms:created>
  <dcterms:modified xsi:type="dcterms:W3CDTF">2025-11-18T05:25:23Z</dcterms:modified>
</cp:coreProperties>
</file>